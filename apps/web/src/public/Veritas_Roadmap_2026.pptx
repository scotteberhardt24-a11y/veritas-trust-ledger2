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84648" y="731520"/>
            <a:ext cx="1828800" cy="1828800"/>
          </a:xfrm>
          <a:prstGeom prst="ellipse">
            <a:avLst/>
          </a:prstGeom>
          <a:solidFill>
            <a:srgbClr val="051A4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4648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84C"/>
                </a:solidFill>
                <a:latin typeface="Georgia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VERITAS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4C"/>
                </a:solidFill>
                <a:latin typeface="Calibri"/>
              </a:rPr>
              <a:t>Product Roadmap &amp; Vision  ·  2026–2028+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343400"/>
            <a:ext cx="39593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9AC0"/>
                </a:solidFill>
                <a:latin typeface="Calibri"/>
              </a:rPr>
              <a:t>From trust layer to global gig economy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Roadmap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AC0"/>
                </a:solidFill>
                <a:latin typeface="Calibri"/>
              </a:rPr>
              <a:t>Four phases from launch to global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10881360" cy="54864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51460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2514600" cy="3291840"/>
          </a:xfrm>
          <a:prstGeom prst="rect">
            <a:avLst/>
          </a:prstGeom>
          <a:solidFill>
            <a:srgbClr val="071435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2514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Now – 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Trust Foundation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251960" y="25146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108960"/>
            <a:ext cx="2514600" cy="32918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3108960"/>
            <a:ext cx="2514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2461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576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Q3 – 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233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Partner Network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0" y="2514600"/>
            <a:ext cx="640080" cy="64008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108960"/>
            <a:ext cx="2514600" cy="32918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108960"/>
            <a:ext cx="251460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2461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96"/>
                </a:solidFill>
                <a:latin typeface="Calibr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6576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233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Coin Economy</a:t>
            </a:r>
          </a:p>
        </p:txBody>
      </p:sp>
      <p:sp>
        <p:nvSpPr>
          <p:cNvPr id="29" name="Oval 28"/>
          <p:cNvSpPr/>
          <p:nvPr/>
        </p:nvSpPr>
        <p:spPr>
          <a:xfrm>
            <a:off x="10012680" y="2514600"/>
            <a:ext cx="640080" cy="64008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0F2E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59" y="3108960"/>
            <a:ext cx="2514600" cy="3291840"/>
          </a:xfrm>
          <a:prstGeom prst="rect">
            <a:avLst/>
          </a:prstGeom>
          <a:solidFill>
            <a:srgbClr val="071435"/>
          </a:solidFill>
          <a:ln w="10160">
            <a:solidFill>
              <a:srgbClr val="E8C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81159" y="3108960"/>
            <a:ext cx="2514600" cy="54864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19" y="32461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96D"/>
                </a:solidFill>
                <a:latin typeface="Calibri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36576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C0"/>
                </a:solidFill>
                <a:latin typeface="Calibri"/>
              </a:rPr>
              <a:t>2028+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19" y="40233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Global Standard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Georgia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AC0"/>
                </a:solidFill>
                <a:latin typeface="Calibri"/>
              </a:rPr>
              <a:t>Trust Foundation  ·  Now – Q3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0" cy="36576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Product Milestones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TruScore engine live — real scores from real job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0048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786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Escrow system processing real payments via Stripe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14553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Badge system with serial-numbered, API-verifiable badges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1246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Web app all 14 pages live at veritas-truscore.com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0831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793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Mobile app iOS + Android via Expo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846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Username claim page — founding member waitlist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04688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4132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Admin dashboard with fraud detection + dispute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71616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98017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JWT auth + bcrypt password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Growth Targets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0312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01168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5,000 founding member usernames claimed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67004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57860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500 workers with verified TruScores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23697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14553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First 100 escrow transactions 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803904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12464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3 partner platform deals signed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370831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27939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Press coverage in 1 major tech publication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93776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84632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$50K gross transaction volume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50468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4132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Email list of 10,000 gig workers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607161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98017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App Store + Google Play listings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Infrastructure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10312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PostgreSQL 17-table schema fully deployed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67004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25786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Railway backend + Supabase database in production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323697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9" y="3145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Stripe escrow webhooks + payout rails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3803904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19" y="37124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Badge verification API &lt; 100ms response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370831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9" y="4279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Socket.io real-time escrow status updates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93776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4846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Hash chain ledger for tamper-proof audit trail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550468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54132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SSL + JWT + bcrypt security stack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607161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9" y="5980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Automated tier promotion triggers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Georgia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AC0"/>
                </a:solidFill>
                <a:latin typeface="Calibri"/>
              </a:rPr>
              <a:t>Partner Network  ·  Q3 – Q4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0" cy="36576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Platform Integrations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Craigslist — TruScore widget on all service listings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004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786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Angi — badge verification + escrow as a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14553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Thumbtack — Sign in with Veritas for worker onboarding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1246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Facebook Marketplace — widget API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0831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793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TaskRabbit — partner API for reputation portability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846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Handy — escrow layer for cleaning/home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0468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4132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HomeAdvisor — TruScore display on pro profiles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7161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98017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Nextdoor — local services trust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Product Additions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03120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01168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Sign in with Veritas OAuth for all partner platforms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670048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57860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Public profile pages at veritas-truscore.com/u/[name]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236976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14553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Embeddable TruScore widget (2 lines of HTML)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803904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12464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Partner dashboard for platform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370831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27939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Dispute resolution workflow with evidence upload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937760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84632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Milestone-based escrow with automatic triggers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504688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4132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Worker profile verification (ID + license check)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6071616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98017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Client review system linked to escrow completions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Revenue &amp; Metrics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10312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100,000 registered workers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67004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25786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$5M gross transaction volume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323697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9" y="3145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10 active partner platform integrations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3803904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19" y="37124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2.5% fee = $125K annual fee revenue run 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370831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9" y="4279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Partner API licensing — 3 paid SaaS contracts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93776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4846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50,000 verified TruScores issued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550468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54132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Series Seed close or bridge financing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607161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9" y="5980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Team expansion — 2-3 engineering hires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896"/>
                </a:solidFill>
                <a:latin typeface="Georgia"/>
              </a:rPr>
              <a:t>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AC0"/>
                </a:solidFill>
                <a:latin typeface="Calibri"/>
              </a:rPr>
              <a:t>Coin Economy  · 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0" cy="36576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Veritas Coin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VTC token with real utility — not speculation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004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786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Workers who accept VTC get 1% reward on every release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14553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Clients who fund escrow in VTC get 0.5% discount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1246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Reduces Stripe processing fees by 60-80%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0831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793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Coin earned through platform activity — not purchased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846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TruScore milestones unlock VTC earning multipliers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0468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4132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Partner platforms can reward users in VTC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7161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98017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Legal structure + compliance framework in 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International Expansion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03120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01168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Canada — same regulatory environment, fast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670048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57860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United Kingdom — large gig economy, trades focus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236976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14553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Australia — high demand, English-speaking 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803904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12464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Localized TruScore categories per market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370831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27939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Currency-agnostic escrow (USD, CAD, GBP, AUD)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937760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84632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Local partner platform integrations per market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504688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4132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Multi-language support for worker onboarding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6071616"/>
            <a:ext cx="6400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98017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International badge standards 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Scale Targets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10312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500,000 active workers across all markets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67004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25786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$50M gross transaction volume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323697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9" y="3145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25+ partner platform integrations globally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3803904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19" y="37124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VTC in active circulation — self-sustaining economy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370831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9" y="4279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Series A financing close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93776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4846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100+ team members across engineering + 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550468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54132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Veritas API used by 50M+ users indirectly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607161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9" y="5980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First government partnership discussions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C96D"/>
                </a:solidFill>
                <a:latin typeface="Georgia"/>
              </a:rPr>
              <a:t>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AC0"/>
                </a:solidFill>
                <a:latin typeface="Calibri"/>
              </a:rPr>
              <a:t>Global Standard  ·  2028 and beyond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0" cy="36576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96D"/>
                </a:solidFill>
                <a:latin typeface="Calibri"/>
              </a:rPr>
              <a:t>The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Veritas becomes the industry standard for gig reputation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0048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786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TruScore required by major platforms for worker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14553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Governments reference TruScore for contractor licensing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1246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Banks use TruScore for gig worker loan qualification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0831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793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Insurance companies use TruScore for rate setting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846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HR platforms integrate TruScore for hiring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04688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4132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"Show me your TruScore" becomes a common phrase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71616"/>
            <a:ext cx="64008" cy="201168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98017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500M+ badge verifications per year globally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Strategic Outcomes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0312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01168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Acquisition by major platform (Angi, IAC, Recruit Holdings)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67004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57860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IPO pathway with $1B+ 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23697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14553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Licensing model — every platform pays per TruScore 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803904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12464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VTC becomes the settlement currency for gig payments globally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370831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27939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Veritas Foundation — nonprofit arm for worker protections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937760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84632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Policy influence — portable benefits legislation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504688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4132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Data insights product — anonymized labor market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6071616"/>
            <a:ext cx="6400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98017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Enterprise tier — staffing agencies + Fortune 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10-Year Metrics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10312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5M+ active workers with verified TruScores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67004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25786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100+ country presence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323697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9" y="3145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$5B+ annual gross transaction volume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3803904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19" y="37124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$125M+ annual platform fee revenue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370831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9" y="4279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200+ partner platform integrations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937760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4846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1B+ badge verifications completed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5504688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54132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VTC market cap exceeding $500M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6071616"/>
            <a:ext cx="64008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9" y="5980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AF6"/>
                </a:solidFill>
                <a:latin typeface="Calibri"/>
              </a:rPr>
              <a:t>The trust infrastructure for the global gig economy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Revenue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AC0"/>
                </a:solidFill>
                <a:latin typeface="Calibri"/>
              </a:rPr>
              <a:t>Conservative estimates based on 2.5% escrow fee + API licensing.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6031309"/>
            <a:ext cx="502920" cy="3730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031309"/>
            <a:ext cx="502920" cy="55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6034943"/>
            <a:ext cx="502920" cy="96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00200" y="6034943"/>
            <a:ext cx="502920" cy="1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80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C0"/>
                </a:solidFill>
                <a:latin typeface="Calibri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3694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$0.5M
GTV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714903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A84C"/>
                </a:solidFill>
                <a:latin typeface="Calibri"/>
              </a:rPr>
              <a:t>$0.013M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5997732"/>
            <a:ext cx="502920" cy="37307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5997732"/>
            <a:ext cx="502920" cy="55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6034107"/>
            <a:ext cx="502920" cy="932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6034107"/>
            <a:ext cx="502920" cy="13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6080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C0"/>
                </a:solidFill>
                <a:latin typeface="Calibri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4033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$5M
GTV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714067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A84C"/>
                </a:solidFill>
                <a:latin typeface="Calibri"/>
              </a:rPr>
              <a:t>$0.125M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5661964"/>
            <a:ext cx="502920" cy="373075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0" y="5661964"/>
            <a:ext cx="502920" cy="5596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6025713"/>
            <a:ext cx="502920" cy="9326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6025713"/>
            <a:ext cx="502920" cy="139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6080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C0"/>
                </a:solidFill>
                <a:latin typeface="Calibri"/>
              </a:rPr>
              <a:t>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0676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$50M
GTV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705673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A84C"/>
                </a:solidFill>
                <a:latin typeface="Calibri"/>
              </a:rPr>
              <a:t>$1.25M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4542739"/>
            <a:ext cx="502920" cy="1492300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60" y="4542739"/>
            <a:ext cx="502920" cy="22384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5997732"/>
            <a:ext cx="502920" cy="37307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5997732"/>
            <a:ext cx="502920" cy="55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6080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C0"/>
                </a:solidFill>
                <a:latin typeface="Calibri"/>
              </a:rPr>
              <a:t>2029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9483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$200M
GTV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6776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A84C"/>
                </a:solidFill>
                <a:latin typeface="Calibri"/>
              </a:rPr>
              <a:t>$5.0M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304287"/>
            <a:ext cx="502920" cy="3730752"/>
          </a:xfrm>
          <a:prstGeom prst="rect">
            <a:avLst/>
          </a:prstGeom>
          <a:solidFill>
            <a:srgbClr val="0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2304287"/>
            <a:ext cx="502920" cy="5596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5941771"/>
            <a:ext cx="502920" cy="93268"/>
          </a:xfrm>
          <a:prstGeom prst="rect">
            <a:avLst/>
          </a:prstGeom>
          <a:solidFill>
            <a:srgbClr val="07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2360" y="5941771"/>
            <a:ext cx="502920" cy="1399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6080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C0"/>
                </a:solidFill>
                <a:latin typeface="Calibri"/>
              </a:rPr>
              <a:t>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70992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$500M
GTV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562173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A84C"/>
                </a:solidFill>
                <a:latin typeface="Calibri"/>
              </a:rPr>
              <a:t>$12.5M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1828800"/>
            <a:ext cx="3200400" cy="2560320"/>
          </a:xfrm>
          <a:prstGeom prst="rect">
            <a:avLst/>
          </a:prstGeom>
          <a:solidFill>
            <a:srgbClr val="071435"/>
          </a:solidFill>
          <a:ln w="6350">
            <a:solidFill>
              <a:srgbClr val="0A2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Projections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514600"/>
            <a:ext cx="36576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Gross Transaction Volume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2926080"/>
            <a:ext cx="365760" cy="228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Platform Fee Revenue (2.5%)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AC0"/>
                </a:solidFill>
                <a:latin typeface="Calibri"/>
              </a:rPr>
              <a:t>Assumes: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80"/>
                </a:solidFill>
                <a:latin typeface="Calibri"/>
              </a:rPr>
              <a:t>· 1% market penetration by 2028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0965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80"/>
                </a:solidFill>
                <a:latin typeface="Calibri"/>
              </a:rPr>
              <a:t>· Conservative $8K avg escrow/worker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44398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80"/>
                </a:solidFill>
                <a:latin typeface="Calibri"/>
              </a:rPr>
              <a:t>· No coin economy revenue included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Future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AC0"/>
                </a:solidFill>
                <a:latin typeface="Calibri"/>
              </a:rPr>
              <a:t>Everything we'll build as the platform grows.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AI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Machine learning flags suspicious review patterns, fake completions, and account fraud before it hits the ledger.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Video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Workers upload short verification videos for skill categories. AI scores them and awards Skill Verified badges.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370332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Instant 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Workers can request same-day payment release via VTC. Clients get a 0.5% discount for approving instant releases.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E8C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3703320" cy="45720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96D"/>
                </a:solidFill>
                <a:latin typeface="Calibri"/>
              </a:rPr>
              <a:t>Group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Multi-worker job contracts. General contractor creates one escrow, subcontractors get milestone slices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2918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29184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4290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TruScore API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862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Webhooks for real-time score change notifications. Partner platforms update worker listings live as scores change.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2918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291840"/>
            <a:ext cx="370332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Worker Insurance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862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TruScore-gated insurance products. Diamond tier workers qualify for lower premiums on liability + equipment coverage.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37033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Client TruScore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Buyers and clients get their own TruScore — rated by workers. Bad payers and scam clients get flagged platform-wide.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8920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E8C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4892040"/>
            <a:ext cx="3703320" cy="45720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5029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96D"/>
                </a:solidFill>
                <a:latin typeface="Calibri"/>
              </a:rPr>
              <a:t>Enterprise 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4864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Property management companies, staffing agencies, and large employers get a team dashboard to manage contractor TruScores.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892040"/>
            <a:ext cx="3703320" cy="1463040"/>
          </a:xfrm>
          <a:prstGeom prst="rect">
            <a:avLst/>
          </a:prstGeom>
          <a:solidFill>
            <a:srgbClr val="071435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89204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029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Skill Marketplace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4864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C0"/>
                </a:solidFill>
                <a:latin typeface="Calibri"/>
              </a:rPr>
              <a:t>Workers list specific skills + certifications. Clients filter by skill TruScore. Matches routed by trust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84648" y="731520"/>
            <a:ext cx="1828800" cy="1828800"/>
          </a:xfrm>
          <a:prstGeom prst="ellipse">
            <a:avLst/>
          </a:prstGeom>
          <a:solidFill>
            <a:srgbClr val="051A4A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4648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84C"/>
                </a:solidFill>
                <a:latin typeface="Georgia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The gig economy has 73 million workers.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Georgia"/>
              </a:rPr>
              <a:t>None of them have a portable reputation.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60520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Georgia"/>
              </a:rPr>
              <a:t>Until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754880"/>
            <a:ext cx="39593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9AC0"/>
                </a:solidFill>
                <a:latin typeface="Calibri"/>
              </a:rPr>
              <a:t>veritas-truscore.com  ·  Claim your username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