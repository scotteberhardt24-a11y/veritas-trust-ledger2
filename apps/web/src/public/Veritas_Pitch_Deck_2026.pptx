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84648" y="822960"/>
            <a:ext cx="1828800" cy="1828800"/>
          </a:xfrm>
          <a:prstGeom prst="ellipse">
            <a:avLst/>
          </a:prstGeom>
          <a:solidFill>
            <a:srgbClr val="051A4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84648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84C"/>
                </a:solidFill>
                <a:latin typeface="Georgia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7616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Georgia"/>
              </a:rPr>
              <a:t>VERITAS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8620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A84C"/>
                </a:solidFill>
                <a:latin typeface="Calibri"/>
              </a:rPr>
              <a:t>T R U S T  ·  V E R I F I E D  ·  P O R T A B L 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526280"/>
            <a:ext cx="39593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70916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AC0"/>
                </a:solidFill>
                <a:latin typeface="Calibri"/>
              </a:rPr>
              <a:t>Investor Pitch Deck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16636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veritas-truscore.com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73 million gig workers. Zero portable reputation.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611880" cy="347472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118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Reputation is siloed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5 stars on Craigslist means nothing on Angi. Workers start from zero on every new platform — no matter how many jobs they've done.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611880" cy="347472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36118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74519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Payments are unprotected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1460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Clients withhold payment. Workers have no recourse. There is no neutral escrow layer — disputes spiral into lost income and wasted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691640"/>
            <a:ext cx="3611880" cy="347472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691640"/>
            <a:ext cx="361188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874519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Identity can't be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51460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Fake reviews, fake profiles, fake experience. Clients have no reliable way to verify who they're hiring until it's too 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A84C"/>
                </a:solidFill>
                <a:latin typeface="Calibri"/>
              </a:rPr>
              <a:t>The result: a $455 billion gig economy running on trust infrastructure built in 2005.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Three products. One trust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611880" cy="3657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⬡  TruScore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30632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A portable reputation score backed by real job history, verified by escrow-confirmed completions. Works on every partner platform. Once earned — it's yours forever.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611880" cy="3657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Georgia"/>
              </a:rPr>
              <a:t>⊛  Escrow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2423160"/>
            <a:ext cx="306324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56032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A neutral payment holding system that releases funds only when both parties confirm work is done. Milestone-based. Tamper-proof ledger. Dispute resolution built 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691640"/>
            <a:ext cx="3611880" cy="3657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18288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96"/>
                </a:solidFill>
                <a:latin typeface="Georgia"/>
              </a:rPr>
              <a:t>◈  Badges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2423160"/>
            <a:ext cx="3063240" cy="2743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56032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Serial-numbered achievement badges that cannot be faked. Any partner platform verifies authenticity in real time via API. No fakes. No purchased reviews.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9A84C"/>
                </a:solidFill>
                <a:latin typeface="Calibri"/>
              </a:rPr>
              <a:t>"Veritas is the Visa of gig worker reputation — the layer every platform runs 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The gig economy is massive. The trust infrastructure is nonexistent.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Georgia"/>
              </a:rPr>
              <a:t>73M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AC0"/>
                </a:solidFill>
                <a:latin typeface="Calibri"/>
              </a:rPr>
              <a:t>Gig workers in the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2560320" cy="1371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9385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FF"/>
                </a:solidFill>
                <a:latin typeface="Georgia"/>
              </a:rPr>
              <a:t>$455B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AC0"/>
                </a:solidFill>
                <a:latin typeface="Calibri"/>
              </a:rPr>
              <a:t>US gig economy annual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96"/>
                </a:solidFill>
                <a:latin typeface="Georgia"/>
              </a:rPr>
              <a:t>$58M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AC0"/>
                </a:solidFill>
                <a:latin typeface="Calibri"/>
              </a:rPr>
              <a:t>GTV at 1% penetration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828800"/>
            <a:ext cx="2560320" cy="13716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9385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C96D"/>
                </a:solidFill>
                <a:latin typeface="Georgia"/>
              </a:rPr>
              <a:t>$1.45M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AC0"/>
                </a:solidFill>
                <a:latin typeface="Calibri"/>
              </a:rPr>
              <a:t>Annual fees at 1% penetration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1247120" cy="22860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Revenue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15383"/>
            <a:ext cx="7315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2.5% platform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05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On every escrow release. Primary revenue driver.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562855"/>
            <a:ext cx="7315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Partner API licensing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5079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SaaS subscriptions for platforms displaying TruScores.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910327"/>
            <a:ext cx="7315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55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Premium worker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55464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Gold/Diamond features and badge acceleration.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257799"/>
            <a:ext cx="7315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2029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Veritas Coin (Phase 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202936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Own payment token — reduces processing costs, increases retention.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Simple for workers and clients. Powerful for partners.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11880" cy="173736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0F2E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Worker signs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Claims username, builds TruScore through escrow-verified 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3611880" cy="173736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205740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029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0F2E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Job posted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560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Client posts on Craigslist, Angi, or Veritas directly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828800"/>
            <a:ext cx="3611880" cy="173736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205740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029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0F2E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Escrow 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560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Client funds escrow — Veritas holds payment securely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3611880" cy="173736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0F2E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Work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Milestones hit, both parties confirm — funds release 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3840480"/>
            <a:ext cx="3611880" cy="173736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53712" y="406908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0F2E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TruScore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572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Score rises, badges unlock, reputation grows across all platforms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3840480"/>
            <a:ext cx="3611880" cy="173736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67344" y="406908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0F2E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Portable everywhere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572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TruScore travels to every partner platform via API or Sign in with Veritas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Partner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We don't compete with platforms — we become their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Craigslist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150M+ monthly users. Zero payment layer. Zero trust verification. We become their escrow and badge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94960" cy="155448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Angi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20M+ homeowners. Already paying for leads. Our TruScore widget increases conversion on every verified listing.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394960" cy="155448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Thumbtack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10M+ projects posted yearly. Their workers need portable rep. Our API delivers it in 2 days.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394960" cy="155448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Facebook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Marketplace has millions of service listings with zero verification. Our widget = instant trust layer.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Georgia"/>
              </a:rPr>
              <a:t>Integration model: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669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C0"/>
                </a:solidFill>
                <a:latin typeface="Calibri"/>
              </a:rPr>
              <a:t>Partner pastes 2 lines of HTML → TruScore widget live on every listing. No engineering team required. API verification in &lt;100ms.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Product is live. Waitlist is open. Growing daily.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47120" cy="566928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0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828800"/>
            <a:ext cx="685800" cy="320040"/>
          </a:xfrm>
          <a:prstGeom prst="ellipse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Georgia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Full web app, mobile app, API, escrow, and badge system — all built and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11247120" cy="566928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95728"/>
            <a:ext cx="11247120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487168"/>
            <a:ext cx="685800" cy="320040"/>
          </a:xfrm>
          <a:prstGeom prst="ellipse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8716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Georgia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4871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PostgreSQL ledger with 17 tables, auto-tier sync, tamper-proof hash chain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54096"/>
            <a:ext cx="11247120" cy="566928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54096"/>
            <a:ext cx="11247120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3145536"/>
            <a:ext cx="685800" cy="320040"/>
          </a:xfrm>
          <a:prstGeom prst="ellipse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4553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Georgia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1455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Stripe escrow flow in test mode — fund, milestone, release, 2.5% fee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12464"/>
            <a:ext cx="11247120" cy="566928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12464"/>
            <a:ext cx="11247120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803904"/>
            <a:ext cx="685800" cy="320040"/>
          </a:xfrm>
          <a:prstGeom prst="ellipse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0390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Georgia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039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Username claim page at veritas-truscore.com — collecting founding members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70831"/>
            <a:ext cx="11247120" cy="566928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70831"/>
            <a:ext cx="11247120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4462271"/>
            <a:ext cx="685800" cy="320040"/>
          </a:xfrm>
          <a:prstGeom prst="ellipse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462271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Georgia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46227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Railway backend + Supabase database deployed in production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11247120" cy="566928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029200"/>
            <a:ext cx="11247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5120640"/>
            <a:ext cx="685800" cy="320040"/>
          </a:xfrm>
          <a:prstGeom prst="ellipse">
            <a:avLst/>
          </a:prstGeom>
          <a:solidFill>
            <a:srgbClr val="071435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Georgia"/>
              </a:rPr>
              <a:t>Partner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Outreach to Craigslist, Angi, Thumbtack partnership teams underway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veritas-truscore.com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989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AC0"/>
                </a:solidFill>
                <a:latin typeface="Calibri"/>
              </a:rPr>
              <a:t>— live 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Four phases from launch to global trust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10607040" cy="36576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56032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Georgi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2468880" cy="32004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Georgia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Now – Q3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51959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Launch TruScore + escrow + badges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54879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50,000 waitlist members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2578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663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First 3 partner integrations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76072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69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Stripe live payments go live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Georgia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246120"/>
            <a:ext cx="2468880" cy="32004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Georgia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Q3 – Q4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4251959"/>
            <a:ext cx="54864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10 partner platforms integrated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754879"/>
            <a:ext cx="54864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4663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100,000 active workers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5257800"/>
            <a:ext cx="54864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51663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$5M gross transaction volume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5760720"/>
            <a:ext cx="54864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5669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Mobile apps iOS + Android launch</a:t>
            </a:r>
          </a:p>
        </p:txBody>
      </p:sp>
      <p:sp>
        <p:nvSpPr>
          <p:cNvPr id="34" name="Oval 33"/>
          <p:cNvSpPr/>
          <p:nvPr/>
        </p:nvSpPr>
        <p:spPr>
          <a:xfrm>
            <a:off x="6995159" y="2560320"/>
            <a:ext cx="640080" cy="64008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Georgia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246120"/>
            <a:ext cx="2468880" cy="32004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59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Georgia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2027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251959"/>
            <a:ext cx="54864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Veritas Coin launch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754879"/>
            <a:ext cx="54864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663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Coin rewards for platform transactions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5257800"/>
            <a:ext cx="54864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51663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International expansion (CA, UK, AU)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760720"/>
            <a:ext cx="54864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669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$50M GTV target</a:t>
            </a:r>
          </a:p>
        </p:txBody>
      </p:sp>
      <p:sp>
        <p:nvSpPr>
          <p:cNvPr id="47" name="Oval 46"/>
          <p:cNvSpPr/>
          <p:nvPr/>
        </p:nvSpPr>
        <p:spPr>
          <a:xfrm>
            <a:off x="9875519" y="2560320"/>
            <a:ext cx="640080" cy="64008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19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Georgia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59" y="3246120"/>
            <a:ext cx="2468880" cy="320040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19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96D"/>
                </a:solidFill>
                <a:latin typeface="Georgia"/>
              </a:rPr>
              <a:t>Phase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19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2028+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4251959"/>
            <a:ext cx="54864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41605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500,000+ active workers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4040" y="4754879"/>
            <a:ext cx="54864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4663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50+ platform integrations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5257800"/>
            <a:ext cx="54864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51663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Veritas as industry standard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5760720"/>
            <a:ext cx="54864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0" y="5669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Series A / strategic acquisition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Why We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No direct competitor. This is a gap, not a coincidence.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11880" cy="457200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AC0"/>
                </a:solidFill>
                <a:latin typeface="Georgia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187452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847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Georgia"/>
              </a:rPr>
              <a:t>Veritas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874520" cy="457200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AC0"/>
                </a:solidFill>
                <a:latin typeface="Georgia"/>
              </a:rPr>
              <a:t>Upwork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1874520" cy="457200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47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AC0"/>
                </a:solidFill>
                <a:latin typeface="Georgia"/>
              </a:rPr>
              <a:t>Angi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828800"/>
            <a:ext cx="1783080" cy="457200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18470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AC0"/>
                </a:solidFill>
                <a:latin typeface="Georgia"/>
              </a:rPr>
              <a:t>Craigslist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361188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23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Portable reputation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377440"/>
            <a:ext cx="1874520" cy="47548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4231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77440"/>
            <a:ext cx="187452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4231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377440"/>
            <a:ext cx="187452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4231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2377440"/>
            <a:ext cx="178308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4231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07792"/>
            <a:ext cx="361188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9535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Escrow payments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907792"/>
            <a:ext cx="1874520" cy="47548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9535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907792"/>
            <a:ext cx="187452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535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907792"/>
            <a:ext cx="187452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9535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2907792"/>
            <a:ext cx="178308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2953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38144"/>
            <a:ext cx="361188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48386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Serial-numbered badges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438144"/>
            <a:ext cx="1874520" cy="47548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4838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438144"/>
            <a:ext cx="187452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4838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438144"/>
            <a:ext cx="187452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4838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32720" y="3438144"/>
            <a:ext cx="178308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78440" y="348386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68496"/>
            <a:ext cx="361188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01421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Cross-platform 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3968496"/>
            <a:ext cx="1874520" cy="47548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401421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968496"/>
            <a:ext cx="187452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01421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968496"/>
            <a:ext cx="187452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401421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3968496"/>
            <a:ext cx="178308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78440" y="401421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498848"/>
            <a:ext cx="361188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4544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Works on other platforms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4498848"/>
            <a:ext cx="1874520" cy="47548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400" y="45445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498848"/>
            <a:ext cx="187452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45445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4498848"/>
            <a:ext cx="187452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45445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32720" y="4498848"/>
            <a:ext cx="1783080" cy="475488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78440" y="45445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029200"/>
            <a:ext cx="361188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0749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Own coin / rewards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5029200"/>
            <a:ext cx="1874520" cy="47548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43400" y="50749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029200"/>
            <a:ext cx="187452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50749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5029200"/>
            <a:ext cx="187452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66760" y="50749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32720" y="5029200"/>
            <a:ext cx="1783080" cy="475488"/>
          </a:xfrm>
          <a:prstGeom prst="rect">
            <a:avLst/>
          </a:prstGeom>
          <a:solidFill>
            <a:srgbClr val="05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78440" y="50749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6A"/>
                </a:solidFill>
                <a:latin typeface="Calibri"/>
              </a:rPr>
              <a:t>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AC0"/>
                </a:solidFill>
                <a:latin typeface="Calibri"/>
              </a:rPr>
              <a:t>Seed round to prove the model and acquire the first 50,000 users.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132320" cy="438912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Use of Funds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73152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Partner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First 3 platform API deals — Craigslist, Angi, Thumbtack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83279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Marketing &amp;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Waitlist to 50,000 — trades forums, influencers, press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51959"/>
            <a:ext cx="73152" cy="5486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1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Mobile apps, Veritas Coin dev, badge ledger hardening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20640"/>
            <a:ext cx="73152" cy="548640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Operations &amp; 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12 months runway, coin legal structure,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691640"/>
            <a:ext cx="3931920" cy="438912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Key Numbers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[AMOUNT]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87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Seed raise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0449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[EQUITY]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Equity offered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666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[VAL]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730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Pre-money 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885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12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Runway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10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9743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Waitlist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532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5596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Partner 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AC0"/>
                </a:solidFill>
                <a:latin typeface="Calibri"/>
              </a:rPr>
              <a:t>The waitlist is live. The product is built. We're looking for a partner who understands infrastructure plays.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84648" y="822960"/>
            <a:ext cx="1828800" cy="1828800"/>
          </a:xfrm>
          <a:prstGeom prst="ellipse">
            <a:avLst/>
          </a:prstGeom>
          <a:solidFill>
            <a:srgbClr val="051A4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84648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84C"/>
                </a:solidFill>
                <a:latin typeface="Georgia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Let's Build the Trust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Georgia"/>
              </a:rPr>
              <a:t>for the Gig Economy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434840"/>
            <a:ext cx="39593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EAF6"/>
                </a:solidFill>
                <a:latin typeface="Calibri"/>
              </a:rPr>
              <a:t>[Your Name]  ·  Founder, Veritas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AC0"/>
                </a:solidFill>
                <a:latin typeface="Calibri"/>
              </a:rPr>
              <a:t>[your@email.com]  ·  [phone]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D4FF"/>
                </a:solidFill>
                <a:latin typeface="Calibri"/>
              </a:rPr>
              <a:t>veritas-truscore.com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